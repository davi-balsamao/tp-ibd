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Cotacoes do Tesouro Direto por familia de titulo (52.706 total)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Cotacoes do Tesouro Direto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bubble3D val="0"/>
            <c:spPr>
              <a:solidFill>
                <a:srgbClr val="B9C6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IPCA+ (16.656)</c:v>
                </c:pt>
                <c:pt idx="1">
                  <c:v>Prefixado (12.875)</c:v>
                </c:pt>
                <c:pt idx="2">
                  <c:v>Educa+ (10.369)</c:v>
                </c:pt>
                <c:pt idx="3">
                  <c:v>Renda+ (5.832)</c:v>
                </c:pt>
                <c:pt idx="4">
                  <c:v>Selic (5.668)</c:v>
                </c:pt>
                <c:pt idx="5">
                  <c:v>IGPM+ (1.306)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16656</c:v>
                </c:pt>
                <c:pt idx="1">
                  <c:v>12875</c:v>
                </c:pt>
                <c:pt idx="2">
                  <c:v>10369</c:v>
                </c:pt>
                <c:pt idx="3">
                  <c:v>5832</c:v>
                </c:pt>
                <c:pt idx="4">
                  <c:v>5668</c:v>
                </c:pt>
                <c:pt idx="5">
                  <c:v>1306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Calibri"/>
              </a:rPr>
              <a:t>SELIC media por ano (taxa diaria)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 diaria media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0.05</c:v>
                </c:pt>
                <c:pt idx="3">
                  <c:v>0.04</c:v>
                </c:pt>
                <c:pt idx="4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ADCF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Calibri"/>
              </a:rPr>
              <a:t>Taxa media do IPCA+ por cenario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media do IPCA+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Selic baixa</c:v>
                  </c:pt>
                  <c:pt idx="1">
                    <c:v>Intermediaria</c:v>
                  </c:pt>
                  <c:pt idx="2">
                    <c:v>Selic alta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3.98</c:v>
                </c:pt>
                <c:pt idx="1">
                  <c:v>6.19</c:v>
                </c:pt>
                <c:pt idx="2">
                  <c:v>6.88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Calibri"/>
              </a:rPr>
              <a:t>Preco unitario do Prefixado (R$)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 medio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933.7</c:v>
                </c:pt>
                <c:pt idx="1">
                  <c:v>848.09</c:v>
                </c:pt>
                <c:pt idx="2">
                  <c:v>873.87</c:v>
                </c:pt>
                <c:pt idx="3">
                  <c:v>864.8</c:v>
                </c:pt>
                <c:pt idx="4">
                  <c:v>773.1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 minimo</c:v>
                </c:pt>
              </c:strCache>
            </c:strRef>
          </c:tx>
          <c:spPr>
            <a:solidFill>
              <a:srgbClr val="D4AF37"/>
            </a:solidFill>
            <a:ln w="3175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605.69</c:v>
                </c:pt>
                <c:pt idx="1">
                  <c:v>437.81</c:v>
                </c:pt>
                <c:pt idx="2">
                  <c:v>470.2</c:v>
                </c:pt>
                <c:pt idx="3">
                  <c:v>417.16</c:v>
                </c:pt>
                <c:pt idx="4">
                  <c:v>381.26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657600" cy="36576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2743200" cy="27432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PRATICO - INTRODUCAO A BANCOS DE DADOS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SELIC e Tesouro Direto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Acesso, coleta, gerenciamento e analise integrada de dados publicos sobre politica monetaria e titulos do governo federal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952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UFMG / DCC - Introducao a Bancos de Dados - 1o Semestre de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Ladeira Balsamao  |  Enzo de Freitas Alencar  |  Fernando Thales Santana Lopes  |  Otavio Fagundes Rodrigues de Oliveira  |  Pedro Puliti Dias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e motivacao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diaria (BACEN) e Tesouro Direto (Tesouro Nacional)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carga (Parte 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4086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conceitual, dicionario de dados e 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(Parte 2)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52928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consultas SQL organizadas em 5 etapas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achados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364992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Caracterizacao, preparacao, descritiva e analise por objetivos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critica e limitacoes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877056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cobertura das fontes utilizadas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Conclusoes e publicacao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389120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Sintese dos resultados e link do repositorio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fontes publicas, um objetivo comum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politica monetaria do Banco Central com o mercado de titulos publicos federais, permitindo investigar como decisoes de juros afetam precos e retornos do Tesouro Direto.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840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SELIC Diaria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BACEN - Serie SGS no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(dias uteis)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04/01/2021 a 31/12/2025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taxa efetiva diaria (% ao dia)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3840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Precos e Taxas do Tesouro Direto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 Nacional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52.706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2084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cotacoes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familias de titulos)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7033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04/01/2021 a 30/12/2025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(% a.a.) e Precos Unitarios (R$) de compra/venda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1 - MODELAGEM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conceitual e dicionario de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663440" cy="2927664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C:/Davi/UFMG/Periodo 3/IBD/TP/TP-IBD/metadados/Modelo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08760"/>
            <a:ext cx="4480560" cy="2744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390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ER - tabelas selic_diaria e tesouro_direto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Dicionario de dados (resumo)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783080"/>
          <a:ext cx="32461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selic_diaria.data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util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selic_diaria.valor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SELIC, % ao 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tesouro_direto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titulo + vencto +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data_base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-&gt; selic_diaria.data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taxa/pu *_manha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Taxas e PUs (compra/venda)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71500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Juncao: tesouro_direto.data_base = selic_diaria.data (FK). 8 tipos de titulo no total (Selic, Prefixado, IPCA+, IGPM+, Renda+, Educa+ e variantes c/ juros semestrais).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2 - METODOLOGIA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consultas SQL em 5 etapas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analise exploratoria foi conduzida diretamente em PostgreSQL, sobre as tabelas selic_diaria e tesouro_direto, seguindo o roteiro proposto pelo enunciado.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5910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0700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9260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Caracterizacao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periodo, tipos de titulo e perfil da SELIC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148840"/>
            <a:ext cx="15910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5292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59152" y="29260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Definicao dos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59152" y="3520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questoes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38404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do IPCA+ e efeito gangorra do Prefixado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2148840"/>
            <a:ext cx="15910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9884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05072" y="29260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Preparacao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05072" y="3520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0" y="38404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duplicatas, dominio, cronologia e derivados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2148840"/>
            <a:ext cx="15910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50992" y="29260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50992" y="3520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38404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Estatisticas, frequencias e volatilidade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148840"/>
            <a:ext cx="15910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9068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79068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96912" y="29260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96912" y="35204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38404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SELIC x Tesouro para responder as questoes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1 - CARACTERIZACAO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e perfil geral dos dados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1.256 + 52.706 = 53.962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577840" y="184708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integrados (SELIC + Tesouro Direto)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2021 - 2025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77840" y="262432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temporal, em dias uteis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0,0075 a 0,0551 %/dia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577840" y="340156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da SELIC diaria no periodo (~2% a ~15% a.a.)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16,33%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577840" y="417880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taxa de venda registrada (Tesouro Prefixado)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2 - OBJETIVOS DE PESQUISA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perguntas orientam a analise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840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"preco" de proteger o poder de compra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ciclos de alta da SELIC (Banco Central elevando juros para conter a inflacao), o Tesouro passa a oferecer premios (taxas reais) maiores nos titulos Tesouro IPCA+ para atrair o investidor?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840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38404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"efeito gangorra" na pratica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7889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ciclos de alta e queda da SELIC afetam o Preco Unitario (PU) dos titulos Tesouro Prefixado?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3 - PREPARACAO DOS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consistencia dos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primaria composta (tipo_titulo, data_vencimento, data_base) garante registros unicos.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nulos nas colunas de venda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984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taxa_venda_manha e pu_venda_manha estao completas em todo o periodo (colunas de compra nao testadas).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5511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consistente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titulo com data de vencimento anterior ou igual a data de cotacao.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163824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118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derivados criados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ano_cotacao, mes_cotacao e dias_para_vencer, usados nas etapas seguintes.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7863840" cy="868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atencao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14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encontrados valores fora do dominio esperado no Tesouro: PU = R$ 0,00 no IGPM+ e taxas de venda negativas no IGPM+ (-3,28%) e na Selic (-0,04%) - tratados na analise critica.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4 - ANALISE DESCRITIVA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Estatisticas das taxas de venda por titulo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212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titulo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Prefixado c/ Juros Sem.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Prefixado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IPCA+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IGPM+ c/ Juros Sem.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Selic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vermelho: taxas negativas que extrapolam o dominio esperado (ver analise critica).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1463040"/>
          <a:ext cx="2834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0350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ciclo de juros baixos. A partir de 2022, aperto monetario sustentado.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5 - OBJETIVO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Premio do Tesouro IPCA+ vs. cenario da SELIC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Cenario SELIC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diaria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IPCA+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IPCA+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baixa (&lt;= 0,02)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intermediaria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alta (&gt;= 0,05)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89320" y="1463040"/>
          <a:ext cx="2880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3657600"/>
            <a:ext cx="8183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3730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Resposta: confirmado.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063240" y="37307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premio real medio do IPCA+ quase dobra entre cenarios de juros baixos (3,98%) e altos (6,88%), com picos de 10,49% no auge do aperto monetario (dez/2025).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5 - OBJETIVO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gangorra: SELIC vs. preco do Prefixado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17320"/>
                <a:gridCol w="14173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SELIC diaria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 minimo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 medio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605,69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933,70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848,09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470,20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873,87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417,16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381,26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773,10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89320" y="1463040"/>
          <a:ext cx="28803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3703320"/>
            <a:ext cx="8183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377647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Resposta: confirmado.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063240" y="37764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SELIC sobe, o PU do Prefixado cai: de R$ 933,70 em 2021 (SELIC mais baixa) para R$ 773,10 em 2025 (pico da SELIC), com minima historica de R$ 381,26. O efeito e mais forte em titulos de vencimento mais longo.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CRITICA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Limitacoes e cuidados com as fontes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93192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SELIC Diaria (BACEN)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apenas dias uteis (sem fins de semana/feriados)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com 1 dia util de atraso; sem granularidade intradiaria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serie diaria (SGS 11), distinta da SELIC oficial anualizada (Copom, base 252 dias uteis) - exige cuidado em conversoes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27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Precos e Taxas do Tesouro Direto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0574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Cotacoes apenas da manha: nao ha como analisar variacao intradia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 de sobrevivencia: titulos descontinuados antes de 2021 nao aparecem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tipo_titulo mistura categoria, produto e vencimento - exige normalizacao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de volume negociado: nao e possivel medir liquidez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&amp; Tesouro Direto - TP IBD UFMG/DCC 2026/1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CONCLUSOES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 monetaria e precificacao de titulos publicos andam juntas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205740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premio real do Tesouro IPCA+ quase dobra (3,98% -&gt; 6,88%) quando a SELIC sobe - o governo paga mais para atrair investidores em ciclos de aperto.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78892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o "efeito gangorra": o PU do Tesouro Prefixado cai quando a SELIC sobe, e o efeito e maior em titulos de vencimento mais longo.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35204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primaria integra, cronologia consistente e colunas de venda sem nulos; pontos de atencao documentados na analise critica.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7863840" cy="0"/>
          </a:xfrm>
          <a:prstGeom prst="line">
            <a:avLst/>
          </a:prstGeom>
          <a:noFill/>
          <a:ln w="952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modelo ER, dicionario, analise critica e relatorios completos publicados em: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github.com/davi-balsamao/TP-IBD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Taxa SELIC e Tesouro Direto - Analise de Dados Publicos Integrados</dc:title>
  <dc:subject>PptxGenJS Presentation</dc:subject>
  <dc:creator>Davi Ladeira Balsamao, Enzo de Freitas Alencar, Fernando Thales Santana Lopes, Otavio Fagundes Rodrigues de Oliveira, Pedro Puliti Dias</dc:creator>
  <cp:lastModifiedBy>Davi Ladeira Balsamao, Enzo de Freitas Alencar, Fernando Thales Santana Lopes, Otavio Fagundes Rodrigues de Oliveira, Pedro Puliti Dias</cp:lastModifiedBy>
  <cp:revision>1</cp:revision>
  <dcterms:created xsi:type="dcterms:W3CDTF">2026-06-11T01:09:27Z</dcterms:created>
  <dcterms:modified xsi:type="dcterms:W3CDTF">2026-06-11T01:09:27Z</dcterms:modified>
</cp:coreProperties>
</file>